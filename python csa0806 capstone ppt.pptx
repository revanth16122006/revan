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3" r:id="rId9"/>
    <p:sldId id="263" r:id="rId10"/>
    <p:sldId id="274" r:id="rId11"/>
    <p:sldId id="275" r:id="rId12"/>
    <p:sldId id="266"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18" autoAdjust="0"/>
    <p:restoredTop sz="94660"/>
  </p:normalViewPr>
  <p:slideViewPr>
    <p:cSldViewPr snapToGrid="0">
      <p:cViewPr varScale="1">
        <p:scale>
          <a:sx n="85" d="100"/>
          <a:sy n="85" d="100"/>
        </p:scale>
        <p:origin x="307"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E3B1ACC-DD55-4F85-A26E-9D565FCE1EAC}"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21371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3B1ACC-DD55-4F85-A26E-9D565FCE1EAC}"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589249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3B1ACC-DD55-4F85-A26E-9D565FCE1EAC}"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2689053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E3B1ACC-DD55-4F85-A26E-9D565FCE1EAC}"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1917548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E3B1ACC-DD55-4F85-A26E-9D565FCE1EAC}" type="datetimeFigureOut">
              <a:rPr lang="en-IN" smtClean="0"/>
              <a:t>25-06-2026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2740643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E3B1ACC-DD55-4F85-A26E-9D565FCE1EAC}" type="datetimeFigureOut">
              <a:rPr lang="en-IN" smtClean="0"/>
              <a:t>25-06-2026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2328336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3B1ACC-DD55-4F85-A26E-9D565FCE1EAC}" type="datetimeFigureOut">
              <a:rPr lang="en-IN" smtClean="0"/>
              <a:t>25-06-2026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2510287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3B1ACC-DD55-4F85-A26E-9D565FCE1EAC}"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800333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3B1ACC-DD55-4F85-A26E-9D565FCE1EAC}"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3994800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3B1ACC-DD55-4F85-A26E-9D565FCE1EAC}"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3761019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3B1ACC-DD55-4F85-A26E-9D565FCE1EAC}"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C9CB00-1D9C-4BBA-9ED5-4E54BBA652D1}" type="slidenum">
              <a:rPr lang="en-IN" smtClean="0"/>
              <a:t>‹#›</a:t>
            </a:fld>
            <a:endParaRPr lang="en-IN"/>
          </a:p>
        </p:txBody>
      </p:sp>
    </p:spTree>
    <p:extLst>
      <p:ext uri="{BB962C8B-B14F-4D97-AF65-F5344CB8AC3E}">
        <p14:creationId xmlns:p14="http://schemas.microsoft.com/office/powerpoint/2010/main" val="130465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3B1ACC-DD55-4F85-A26E-9D565FCE1EAC}" type="datetimeFigureOut">
              <a:rPr lang="en-IN" smtClean="0"/>
              <a:t>25-06-2026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C9CB00-1D9C-4BBA-9ED5-4E54BBA652D1}" type="slidenum">
              <a:rPr lang="en-IN" smtClean="0"/>
              <a:t>‹#›</a:t>
            </a:fld>
            <a:endParaRPr lang="en-IN"/>
          </a:p>
        </p:txBody>
      </p:sp>
    </p:spTree>
    <p:extLst>
      <p:ext uri="{BB962C8B-B14F-4D97-AF65-F5344CB8AC3E}">
        <p14:creationId xmlns:p14="http://schemas.microsoft.com/office/powerpoint/2010/main" val="1991971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06770"/>
            <a:ext cx="9144000" cy="1130061"/>
          </a:xfrm>
        </p:spPr>
        <p:txBody>
          <a:bodyPr>
            <a:noAutofit/>
          </a:bodyPr>
          <a:lstStyle/>
          <a:p>
            <a:r>
              <a:rPr lang="en-US" sz="4000" b="1" dirty="0">
                <a:latin typeface="Algerian" panose="04020705040A02060702" pitchFamily="82" charset="0"/>
              </a:rPr>
              <a:t>Secure Online Voting and Election Management System</a:t>
            </a:r>
            <a:endParaRPr lang="en-IN" sz="4000" b="1" dirty="0">
              <a:latin typeface="Algerian" panose="04020705040A02060702" pitchFamily="82" charset="0"/>
            </a:endParaRPr>
          </a:p>
        </p:txBody>
      </p:sp>
      <p:sp>
        <p:nvSpPr>
          <p:cNvPr id="3" name="Subtitle 2"/>
          <p:cNvSpPr>
            <a:spLocks noGrp="1"/>
          </p:cNvSpPr>
          <p:nvPr>
            <p:ph type="subTitle" idx="1"/>
          </p:nvPr>
        </p:nvSpPr>
        <p:spPr>
          <a:xfrm>
            <a:off x="7216588" y="4078801"/>
            <a:ext cx="4186735" cy="2070464"/>
          </a:xfrm>
        </p:spPr>
        <p:txBody>
          <a:bodyPr>
            <a:normAutofit/>
          </a:bodyPr>
          <a:lstStyle/>
          <a:p>
            <a:pPr algn="l"/>
            <a:r>
              <a:rPr lang="en-GB" b="1" dirty="0">
                <a:latin typeface="Times New Roman" panose="02020603050405020304" pitchFamily="18" charset="0"/>
                <a:cs typeface="Times New Roman" panose="02020603050405020304" pitchFamily="18" charset="0"/>
              </a:rPr>
              <a:t>Presented by:</a:t>
            </a:r>
          </a:p>
          <a:p>
            <a:pPr algn="l"/>
            <a:r>
              <a:rPr lang="en-GB" dirty="0">
                <a:latin typeface="Times New Roman" panose="02020603050405020304" pitchFamily="18" charset="0"/>
                <a:cs typeface="Times New Roman" panose="02020603050405020304" pitchFamily="18" charset="0"/>
              </a:rPr>
              <a:t>A. Roopesh Reddy(192512258)</a:t>
            </a:r>
          </a:p>
          <a:p>
            <a:pPr algn="l"/>
            <a:r>
              <a:rPr lang="en-GB" dirty="0">
                <a:latin typeface="Times New Roman" panose="02020603050405020304" pitchFamily="18" charset="0"/>
                <a:cs typeface="Times New Roman" panose="02020603050405020304" pitchFamily="18" charset="0"/>
              </a:rPr>
              <a:t>B. Revanth Reddy(192524289)</a:t>
            </a:r>
          </a:p>
          <a:p>
            <a:pPr algn="l"/>
            <a:endParaRPr lang="en-IN" dirty="0">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387510" y="4078801"/>
            <a:ext cx="5871621" cy="207046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b="1" dirty="0">
                <a:latin typeface="Times New Roman" panose="02020603050405020304" pitchFamily="18" charset="0"/>
                <a:cs typeface="Times New Roman" panose="02020603050405020304" pitchFamily="18" charset="0"/>
              </a:rPr>
              <a:t>Guided by     : </a:t>
            </a:r>
            <a:r>
              <a:rPr lang="en-GB" dirty="0">
                <a:latin typeface="Times New Roman" panose="02020603050405020304" pitchFamily="18" charset="0"/>
                <a:cs typeface="Times New Roman" panose="02020603050405020304" pitchFamily="18" charset="0"/>
              </a:rPr>
              <a:t>Dr .P .vijayaragavan</a:t>
            </a:r>
          </a:p>
          <a:p>
            <a:pPr algn="l"/>
            <a:r>
              <a:rPr lang="en-GB" dirty="0">
                <a:latin typeface="Times New Roman" panose="02020603050405020304" pitchFamily="18" charset="0"/>
                <a:cs typeface="Times New Roman" panose="02020603050405020304" pitchFamily="18" charset="0"/>
              </a:rPr>
              <a:t>                         Dr .Aruna</a:t>
            </a:r>
          </a:p>
          <a:p>
            <a:pPr algn="l"/>
            <a:r>
              <a:rPr lang="en-IN" b="1" dirty="0">
                <a:latin typeface="Times New Roman" panose="02020603050405020304" pitchFamily="18" charset="0"/>
                <a:cs typeface="Times New Roman" panose="02020603050405020304" pitchFamily="18" charset="0"/>
              </a:rPr>
              <a:t>Course code  : </a:t>
            </a:r>
            <a:r>
              <a:rPr lang="en-IN" dirty="0">
                <a:latin typeface="Times New Roman" panose="02020603050405020304" pitchFamily="18" charset="0"/>
                <a:cs typeface="Times New Roman" panose="02020603050405020304" pitchFamily="18" charset="0"/>
              </a:rPr>
              <a:t>CSA0820</a:t>
            </a:r>
          </a:p>
          <a:p>
            <a:pPr algn="l"/>
            <a:r>
              <a:rPr lang="en-IN" b="1" dirty="0">
                <a:latin typeface="Times New Roman" panose="02020603050405020304" pitchFamily="18" charset="0"/>
                <a:cs typeface="Times New Roman" panose="02020603050405020304" pitchFamily="18" charset="0"/>
              </a:rPr>
              <a:t>Course name : </a:t>
            </a:r>
            <a:r>
              <a:rPr lang="en-IN" dirty="0">
                <a:latin typeface="Times New Roman" panose="02020603050405020304" pitchFamily="18" charset="0"/>
                <a:cs typeface="Times New Roman" panose="02020603050405020304" pitchFamily="18" charset="0"/>
              </a:rPr>
              <a:t>Python Programming for Scientific Computing</a:t>
            </a:r>
          </a:p>
        </p:txBody>
      </p:sp>
      <p:pic>
        <p:nvPicPr>
          <p:cNvPr id="1026" name="Picture 2" descr="SIMATS ENGINEERING —BIO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20" y="277292"/>
            <a:ext cx="11480759" cy="1477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013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Algerian" panose="04020705040A02060702" pitchFamily="82" charset="0"/>
              </a:rPr>
              <a:t>Abstract </a:t>
            </a:r>
            <a:endParaRPr lang="en-IN" dirty="0">
              <a:latin typeface="Algerian" panose="04020705040A02060702" pitchFamily="82" charset="0"/>
            </a:endParaRPr>
          </a:p>
        </p:txBody>
      </p:sp>
      <p:pic>
        <p:nvPicPr>
          <p:cNvPr id="2050"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996"/>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8B645652-3230-987A-878A-156F2B7C59E1}"/>
              </a:ext>
            </a:extLst>
          </p:cNvPr>
          <p:cNvSpPr>
            <a:spLocks noGrp="1" noChangeArrowheads="1"/>
          </p:cNvSpPr>
          <p:nvPr>
            <p:ph idx="1"/>
          </p:nvPr>
        </p:nvSpPr>
        <p:spPr bwMode="auto">
          <a:xfrm>
            <a:off x="1718813" y="2059809"/>
            <a:ext cx="8754374" cy="388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20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The “Secure Online Voting and Election Management System” is a Python-based application developed to provide a secure, transparent, and efficient method for conducting elections online. The system allows voters to register, log in securely, and cast their votes digitally while preventing unauthorized access and duplicate voting. It automates vote counting and result generation, reducing manual effort, errors, and time consumption. By using database management and authentication techniques, the project ensures data security, accuracy, and reliability, making it suitable for colleges, organizations, and small-scale election processes.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78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Algerian" panose="04020705040A02060702" pitchFamily="82" charset="0"/>
              </a:rPr>
              <a:t>Introduction </a:t>
            </a:r>
            <a:endParaRPr lang="en-IN" sz="3600" dirty="0">
              <a:latin typeface="Algerian" panose="04020705040A02060702" pitchFamily="82" charset="0"/>
            </a:endParaRPr>
          </a:p>
        </p:txBody>
      </p:sp>
      <p:sp>
        <p:nvSpPr>
          <p:cNvPr id="3" name="Content Placeholder 2"/>
          <p:cNvSpPr>
            <a:spLocks noGrp="1"/>
          </p:cNvSpPr>
          <p:nvPr>
            <p:ph idx="1"/>
          </p:nvPr>
        </p:nvSpPr>
        <p:spPr>
          <a:xfrm>
            <a:off x="674197" y="1946491"/>
            <a:ext cx="7834357" cy="4351338"/>
          </a:xfrm>
        </p:spPr>
        <p:txBody>
          <a:bodyPr>
            <a:norm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“Secure Online Voting and Election Management System” is designed to modernize the traditional voting process by providing a secure, efficient, and user-friendly digital platform for conducting elections.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Traditional voting methods often involve large amounts of paperwork, manual vote counting, time consumption, and risks of human error or malpractice.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This project aims to overcome these challenges by implementing an online system that allows voters to register, authenticate securely, and cast their votes electronically.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system also enables administrators to manage candidates, voters, and election results effectively.</a:t>
            </a: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8484641-FE86-F276-2BB3-F3FA1F8E61E3}"/>
              </a:ext>
            </a:extLst>
          </p:cNvPr>
          <p:cNvPicPr>
            <a:picLocks noChangeAspect="1"/>
          </p:cNvPicPr>
          <p:nvPr/>
        </p:nvPicPr>
        <p:blipFill>
          <a:blip r:embed="rId4"/>
          <a:stretch>
            <a:fillRect/>
          </a:stretch>
        </p:blipFill>
        <p:spPr>
          <a:xfrm>
            <a:off x="8620477" y="1946491"/>
            <a:ext cx="3402886" cy="3585629"/>
          </a:xfrm>
          <a:prstGeom prst="rect">
            <a:avLst/>
          </a:prstGeom>
        </p:spPr>
      </p:pic>
    </p:spTree>
    <p:extLst>
      <p:ext uri="{BB962C8B-B14F-4D97-AF65-F5344CB8AC3E}">
        <p14:creationId xmlns:p14="http://schemas.microsoft.com/office/powerpoint/2010/main" val="2426611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Algerian" panose="04020705040A02060702" pitchFamily="82" charset="0"/>
              </a:rPr>
              <a:t>Problem Identification and Analysis </a:t>
            </a:r>
            <a:endParaRPr lang="en-IN" sz="3600" dirty="0">
              <a:latin typeface="Algerian" panose="04020705040A02060702" pitchFamily="82" charset="0"/>
            </a:endParaRPr>
          </a:p>
        </p:txBody>
      </p:sp>
      <p:sp>
        <p:nvSpPr>
          <p:cNvPr id="3" name="Content Placeholder 2"/>
          <p:cNvSpPr>
            <a:spLocks noGrp="1"/>
          </p:cNvSpPr>
          <p:nvPr>
            <p:ph idx="1"/>
          </p:nvPr>
        </p:nvSpPr>
        <p:spPr>
          <a:xfrm>
            <a:off x="674197" y="2118923"/>
            <a:ext cx="4708585" cy="3445115"/>
          </a:xfrm>
        </p:spPr>
        <p:txBody>
          <a:bodyPr>
            <a:normAutofit/>
          </a:bodyPr>
          <a:lstStyle/>
          <a:p>
            <a:pPr marL="0" indent="0">
              <a:buNone/>
            </a:pPr>
            <a:r>
              <a:rPr lang="en-US" sz="1400" b="1" dirty="0">
                <a:latin typeface="Times New Roman" panose="02020603050405020304" pitchFamily="18" charset="0"/>
                <a:cs typeface="Times New Roman" panose="02020603050405020304" pitchFamily="18" charset="0"/>
              </a:rPr>
              <a:t>Description of the Problem</a:t>
            </a:r>
          </a:p>
          <a:p>
            <a:pPr marL="0" indent="0">
              <a:buNone/>
            </a:pPr>
            <a:r>
              <a:rPr lang="en-US" sz="1400" dirty="0">
                <a:latin typeface="Times New Roman" panose="02020603050405020304" pitchFamily="18" charset="0"/>
                <a:cs typeface="Times New Roman" panose="02020603050405020304" pitchFamily="18" charset="0"/>
              </a:rPr>
              <a:t>	Traditional voting takes more time and manpower. </a:t>
            </a:r>
          </a:p>
          <a:p>
            <a:pPr marL="0" indent="0">
              <a:buNone/>
            </a:pPr>
            <a:r>
              <a:rPr lang="en-US" sz="1400" dirty="0">
                <a:latin typeface="Times New Roman" panose="02020603050405020304" pitchFamily="18" charset="0"/>
                <a:cs typeface="Times New Roman" panose="02020603050405020304" pitchFamily="18" charset="0"/>
              </a:rPr>
              <a:t>	Manual vote counting may cause mistakes. </a:t>
            </a:r>
          </a:p>
          <a:p>
            <a:pPr marL="0" indent="0">
              <a:buNone/>
            </a:pPr>
            <a:r>
              <a:rPr lang="en-US" sz="1400" dirty="0">
                <a:latin typeface="Times New Roman" panose="02020603050405020304" pitchFamily="18" charset="0"/>
                <a:cs typeface="Times New Roman" panose="02020603050405020304" pitchFamily="18" charset="0"/>
              </a:rPr>
              <a:t>	Risk of duplicate or fake voting exists. </a:t>
            </a:r>
          </a:p>
          <a:p>
            <a:pPr marL="0" indent="0">
              <a:buNone/>
            </a:pPr>
            <a:r>
              <a:rPr lang="en-US" sz="1400" dirty="0">
                <a:latin typeface="Times New Roman" panose="02020603050405020304" pitchFamily="18" charset="0"/>
                <a:cs typeface="Times New Roman" panose="02020603050405020304" pitchFamily="18" charset="0"/>
              </a:rPr>
              <a:t>	Managing voter records manually is difficult. </a:t>
            </a:r>
          </a:p>
          <a:p>
            <a:pPr marL="0" indent="0">
              <a:buNone/>
            </a:pPr>
            <a:r>
              <a:rPr lang="en-US" sz="1400" b="1" dirty="0">
                <a:latin typeface="Times New Roman" panose="02020603050405020304" pitchFamily="18" charset="0"/>
                <a:cs typeface="Times New Roman" panose="02020603050405020304" pitchFamily="18" charset="0"/>
              </a:rPr>
              <a:t>Evidence of the Problem</a:t>
            </a:r>
          </a:p>
          <a:p>
            <a:pPr marL="0" indent="0">
              <a:buNone/>
            </a:pPr>
            <a:r>
              <a:rPr lang="en-US" sz="1400" dirty="0">
                <a:latin typeface="Times New Roman" panose="02020603050405020304" pitchFamily="18" charset="0"/>
                <a:cs typeface="Times New Roman" panose="02020603050405020304" pitchFamily="18" charset="0"/>
              </a:rPr>
              <a:t>	Election results are often delayed. </a:t>
            </a:r>
          </a:p>
          <a:p>
            <a:pPr marL="0" indent="0">
              <a:buNone/>
            </a:pPr>
            <a:r>
              <a:rPr lang="en-US" sz="1400" dirty="0">
                <a:latin typeface="Times New Roman" panose="02020603050405020304" pitchFamily="18" charset="0"/>
                <a:cs typeface="Times New Roman" panose="02020603050405020304" pitchFamily="18" charset="0"/>
              </a:rPr>
              <a:t>	Human errors affect voting accuracy. </a:t>
            </a:r>
          </a:p>
          <a:p>
            <a:pPr marL="0" indent="0">
              <a:buNone/>
            </a:pPr>
            <a:r>
              <a:rPr lang="en-US" sz="1400" dirty="0">
                <a:latin typeface="Times New Roman" panose="02020603050405020304" pitchFamily="18" charset="0"/>
                <a:cs typeface="Times New Roman" panose="02020603050405020304" pitchFamily="18" charset="0"/>
              </a:rPr>
              <a:t>	Paper-based systems increase operational cost. </a:t>
            </a:r>
          </a:p>
          <a:p>
            <a:pPr marL="0" indent="0">
              <a:buNone/>
            </a:pPr>
            <a:r>
              <a:rPr lang="en-US" sz="1400" dirty="0">
                <a:latin typeface="Times New Roman" panose="02020603050405020304" pitchFamily="18" charset="0"/>
                <a:cs typeface="Times New Roman" panose="02020603050405020304" pitchFamily="18" charset="0"/>
              </a:rPr>
              <a:t>	Security issues can reduce transparency. </a:t>
            </a:r>
          </a:p>
          <a:p>
            <a:pPr marL="0" indent="0">
              <a:buNone/>
            </a:pPr>
            <a:endParaRPr lang="en-IN" sz="1400" dirty="0">
              <a:latin typeface="Times New Roman" panose="02020603050405020304" pitchFamily="18" charset="0"/>
              <a:cs typeface="Times New Roman" panose="02020603050405020304" pitchFamily="18" charset="0"/>
            </a:endParaRP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A7A2F26-40B4-8D17-CF1B-456DD7BFE421}"/>
              </a:ext>
            </a:extLst>
          </p:cNvPr>
          <p:cNvSpPr txBox="1"/>
          <p:nvPr/>
        </p:nvSpPr>
        <p:spPr>
          <a:xfrm>
            <a:off x="6096000" y="1946491"/>
            <a:ext cx="4398961" cy="3539430"/>
          </a:xfrm>
          <a:prstGeom prst="rect">
            <a:avLst/>
          </a:prstGeom>
          <a:noFill/>
        </p:spPr>
        <p:txBody>
          <a:bodyPr wrap="non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Stakeholders</a:t>
            </a:r>
          </a:p>
          <a:p>
            <a:pPr>
              <a:lnSpc>
                <a:spcPct val="150000"/>
              </a:lnSpc>
            </a:pPr>
            <a:r>
              <a:rPr lang="en-US" sz="1400" dirty="0">
                <a:latin typeface="Times New Roman" panose="02020603050405020304" pitchFamily="18" charset="0"/>
                <a:cs typeface="Times New Roman" panose="02020603050405020304" pitchFamily="18" charset="0"/>
              </a:rPr>
              <a:t>	Voters </a:t>
            </a:r>
          </a:p>
          <a:p>
            <a:pPr>
              <a:lnSpc>
                <a:spcPct val="150000"/>
              </a:lnSpc>
            </a:pPr>
            <a:r>
              <a:rPr lang="en-US" sz="1400" dirty="0">
                <a:latin typeface="Times New Roman" panose="02020603050405020304" pitchFamily="18" charset="0"/>
                <a:cs typeface="Times New Roman" panose="02020603050405020304" pitchFamily="18" charset="0"/>
              </a:rPr>
              <a:t>	Election Administrators </a:t>
            </a:r>
          </a:p>
          <a:p>
            <a:pPr>
              <a:lnSpc>
                <a:spcPct val="150000"/>
              </a:lnSpc>
            </a:pPr>
            <a:r>
              <a:rPr lang="en-US" sz="1400" dirty="0">
                <a:latin typeface="Times New Roman" panose="02020603050405020304" pitchFamily="18" charset="0"/>
                <a:cs typeface="Times New Roman" panose="02020603050405020304" pitchFamily="18" charset="0"/>
              </a:rPr>
              <a:t>	Candidates </a:t>
            </a:r>
          </a:p>
          <a:p>
            <a:pPr>
              <a:lnSpc>
                <a:spcPct val="150000"/>
              </a:lnSpc>
            </a:pPr>
            <a:r>
              <a:rPr lang="en-US" sz="1400" dirty="0">
                <a:latin typeface="Times New Roman" panose="02020603050405020304" pitchFamily="18" charset="0"/>
                <a:cs typeface="Times New Roman" panose="02020603050405020304" pitchFamily="18" charset="0"/>
              </a:rPr>
              <a:t>	Organizations conducting elections </a:t>
            </a:r>
          </a:p>
          <a:p>
            <a:pPr>
              <a:lnSpc>
                <a:spcPct val="150000"/>
              </a:lnSpc>
            </a:pPr>
            <a:r>
              <a:rPr lang="en-US" sz="1400" b="1" dirty="0">
                <a:latin typeface="Times New Roman" panose="02020603050405020304" pitchFamily="18" charset="0"/>
                <a:cs typeface="Times New Roman" panose="02020603050405020304" pitchFamily="18" charset="0"/>
              </a:rPr>
              <a:t>Supporting Data/Research</a:t>
            </a:r>
          </a:p>
          <a:p>
            <a:pPr>
              <a:lnSpc>
                <a:spcPct val="150000"/>
              </a:lnSpc>
            </a:pPr>
            <a:r>
              <a:rPr lang="en-US" sz="1400" dirty="0">
                <a:latin typeface="Times New Roman" panose="02020603050405020304" pitchFamily="18" charset="0"/>
                <a:cs typeface="Times New Roman" panose="02020603050405020304" pitchFamily="18" charset="0"/>
              </a:rPr>
              <a:t>	Online voting reduces manual work. </a:t>
            </a:r>
          </a:p>
          <a:p>
            <a:pPr>
              <a:lnSpc>
                <a:spcPct val="150000"/>
              </a:lnSpc>
            </a:pPr>
            <a:r>
              <a:rPr lang="en-US" sz="1400" dirty="0">
                <a:latin typeface="Times New Roman" panose="02020603050405020304" pitchFamily="18" charset="0"/>
                <a:cs typeface="Times New Roman" panose="02020603050405020304" pitchFamily="18" charset="0"/>
              </a:rPr>
              <a:t>	Digital systems improve accuracy and speed. </a:t>
            </a:r>
          </a:p>
          <a:p>
            <a:pPr>
              <a:lnSpc>
                <a:spcPct val="150000"/>
              </a:lnSpc>
            </a:pPr>
            <a:r>
              <a:rPr lang="en-US" sz="1400" dirty="0">
                <a:latin typeface="Times New Roman" panose="02020603050405020304" pitchFamily="18" charset="0"/>
                <a:cs typeface="Times New Roman" panose="02020603050405020304" pitchFamily="18" charset="0"/>
              </a:rPr>
              <a:t>	Authentication methods increase security. </a:t>
            </a:r>
          </a:p>
          <a:p>
            <a:pPr>
              <a:lnSpc>
                <a:spcPct val="150000"/>
              </a:lnSpc>
            </a:pPr>
            <a:r>
              <a:rPr lang="en-US" sz="1400" dirty="0">
                <a:latin typeface="Times New Roman" panose="02020603050405020304" pitchFamily="18" charset="0"/>
                <a:cs typeface="Times New Roman" panose="02020603050405020304" pitchFamily="18" charset="0"/>
              </a:rPr>
              <a:t>	Automated counting provides faster results.</a:t>
            </a:r>
          </a:p>
          <a:p>
            <a:endParaRPr lang="en-IN" sz="1400" dirty="0"/>
          </a:p>
        </p:txBody>
      </p:sp>
    </p:spTree>
    <p:extLst>
      <p:ext uri="{BB962C8B-B14F-4D97-AF65-F5344CB8AC3E}">
        <p14:creationId xmlns:p14="http://schemas.microsoft.com/office/powerpoint/2010/main" val="2394018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Algerian" panose="04020705040A02060702" pitchFamily="82" charset="0"/>
              </a:rPr>
              <a:t>Solution Design</a:t>
            </a:r>
            <a:endParaRPr lang="en-IN" sz="3600" dirty="0">
              <a:latin typeface="Algerian" panose="04020705040A02060702" pitchFamily="82" charset="0"/>
            </a:endParaRPr>
          </a:p>
        </p:txBody>
      </p:sp>
      <p:sp>
        <p:nvSpPr>
          <p:cNvPr id="3" name="Content Placeholder 2"/>
          <p:cNvSpPr>
            <a:spLocks noGrp="1"/>
          </p:cNvSpPr>
          <p:nvPr>
            <p:ph idx="1"/>
          </p:nvPr>
        </p:nvSpPr>
        <p:spPr>
          <a:xfrm>
            <a:off x="1353671" y="1615900"/>
            <a:ext cx="8383151" cy="4457730"/>
          </a:xfrm>
        </p:spPr>
        <p:txBody>
          <a:bodyPr>
            <a:normAutofit/>
          </a:bodyPr>
          <a:lstStyle/>
          <a:p>
            <a:pPr algn="just">
              <a:lnSpc>
                <a:spcPct val="2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“Secure Online Voting and Election Management System” was designed and implemented using Python and database technologies to provide a secure and efficient election process. </a:t>
            </a:r>
          </a:p>
          <a:p>
            <a:pPr algn="just">
              <a:lnSpc>
                <a:spcPct val="2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system includes modules for voter registration, secure login authentication, candidate management, vote casting, and automatic result generation. </a:t>
            </a:r>
          </a:p>
          <a:p>
            <a:pPr algn="just">
              <a:lnSpc>
                <a:spcPct val="20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database stores voter and election information securely, while authentication mechanisms prevent unauthorized access and duplicate voting.</a:t>
            </a: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841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dirty="0">
                <a:latin typeface="Algerian" panose="04020705040A02060702" pitchFamily="82" charset="0"/>
              </a:rPr>
              <a:t>TOOLS AND TECHNOLOGIES USED</a:t>
            </a: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3EE12C45-C4F9-08FB-0083-93A59152C0FE}"/>
              </a:ext>
            </a:extLst>
          </p:cNvPr>
          <p:cNvSpPr>
            <a:spLocks noGrp="1" noChangeArrowheads="1"/>
          </p:cNvSpPr>
          <p:nvPr>
            <p:ph idx="1"/>
          </p:nvPr>
        </p:nvSpPr>
        <p:spPr bwMode="auto">
          <a:xfrm>
            <a:off x="838200" y="1685247"/>
            <a:ext cx="5148532" cy="45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 and Technologies used:</a:t>
            </a: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Main programming language used to develop the entire voting system.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Tkinter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to create the graphical user interface (GUI) for voters and administrators.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as the database to store voter details, candidate data, and voting records.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for developing the web-based voting application and handling user requests.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VS Code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as the Python development environment for coding and testing.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Module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Implemented using Python to provide secure login and prevent duplicate voting. </a:t>
            </a:r>
          </a:p>
        </p:txBody>
      </p:sp>
      <p:sp>
        <p:nvSpPr>
          <p:cNvPr id="10" name="TextBox 9">
            <a:extLst>
              <a:ext uri="{FF2B5EF4-FFF2-40B4-BE49-F238E27FC236}">
                <a16:creationId xmlns:a16="http://schemas.microsoft.com/office/drawing/2014/main" id="{E71C3032-39A0-A529-7DEA-2BD4A7031C30}"/>
              </a:ext>
            </a:extLst>
          </p:cNvPr>
          <p:cNvSpPr txBox="1"/>
          <p:nvPr/>
        </p:nvSpPr>
        <p:spPr>
          <a:xfrm>
            <a:off x="6780362" y="1906438"/>
            <a:ext cx="502061" cy="1477328"/>
          </a:xfrm>
          <a:prstGeom prst="rect">
            <a:avLst/>
          </a:prstGeom>
          <a:noFill/>
        </p:spPr>
        <p:txBody>
          <a:bodyPr wrap="none" rtlCol="0">
            <a:spAutoFit/>
          </a:bodyPr>
          <a:lstStyle/>
          <a:p>
            <a:r>
              <a:rPr lang="en-IN" dirty="0"/>
              <a:t>      </a:t>
            </a:r>
          </a:p>
          <a:p>
            <a:endParaRPr lang="en-IN" dirty="0"/>
          </a:p>
          <a:p>
            <a:endParaRPr lang="en-IN" dirty="0"/>
          </a:p>
          <a:p>
            <a:endParaRPr lang="en-IN" dirty="0"/>
          </a:p>
          <a:p>
            <a:endParaRPr lang="en-IN" dirty="0"/>
          </a:p>
        </p:txBody>
      </p:sp>
      <p:sp>
        <p:nvSpPr>
          <p:cNvPr id="15" name="TextBox 14">
            <a:extLst>
              <a:ext uri="{FF2B5EF4-FFF2-40B4-BE49-F238E27FC236}">
                <a16:creationId xmlns:a16="http://schemas.microsoft.com/office/drawing/2014/main" id="{6E9715E9-B7C0-D1CE-7399-4897B5BF4AF4}"/>
              </a:ext>
            </a:extLst>
          </p:cNvPr>
          <p:cNvSpPr txBox="1"/>
          <p:nvPr/>
        </p:nvSpPr>
        <p:spPr>
          <a:xfrm>
            <a:off x="6780362" y="1696091"/>
            <a:ext cx="4573437" cy="3931654"/>
          </a:xfrm>
          <a:prstGeom prst="rect">
            <a:avLst/>
          </a:prstGeom>
          <a:noFill/>
        </p:spPr>
        <p:txBody>
          <a:bodyPr wrap="square" rtlCol="0">
            <a:spAutoFit/>
          </a:bodyPr>
          <a:lstStyle/>
          <a:p>
            <a:pPr lvl="0" eaLnBrk="0" fontAlgn="base" hangingPunct="0">
              <a:lnSpc>
                <a:spcPct val="150000"/>
              </a:lnSpc>
              <a:spcBef>
                <a:spcPct val="0"/>
              </a:spcBef>
              <a:spcAft>
                <a:spcPct val="0"/>
              </a:spcAft>
            </a:pPr>
            <a:r>
              <a:rPr lang="en-US" altLang="en-US" sz="1400" b="1" dirty="0">
                <a:latin typeface="Times New Roman" panose="02020603050405020304" pitchFamily="18" charset="0"/>
                <a:cs typeface="Times New Roman" panose="02020603050405020304" pitchFamily="18" charset="0"/>
              </a:rPr>
              <a:t>Software Requirements:</a:t>
            </a:r>
          </a:p>
          <a:p>
            <a:pPr lvl="0" eaLnBrk="0" fontAlgn="base" hangingPunct="0">
              <a:lnSpc>
                <a:spcPct val="150000"/>
              </a:lnSpc>
              <a:spcBef>
                <a:spcPct val="0"/>
              </a:spcBef>
              <a:spcAft>
                <a:spcPct val="0"/>
              </a:spcAft>
            </a:pPr>
            <a:endParaRPr lang="en-US" altLang="en-US" sz="1400" b="1" dirty="0">
              <a:latin typeface="Times New Roman" panose="02020603050405020304" pitchFamily="18" charset="0"/>
              <a:cs typeface="Times New Roman" panose="02020603050405020304" pitchFamily="18" charset="0"/>
            </a:endParaRP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altLang="en-US" sz="1400" b="1" dirty="0">
                <a:latin typeface="Times New Roman" panose="02020603050405020304" pitchFamily="18" charset="0"/>
                <a:cs typeface="Times New Roman" panose="02020603050405020304" pitchFamily="18" charset="0"/>
              </a:rPr>
              <a:t>Operating System</a:t>
            </a:r>
            <a:r>
              <a:rPr lang="en-US" altLang="en-US" sz="1400" dirty="0">
                <a:latin typeface="Times New Roman" panose="02020603050405020304" pitchFamily="18" charset="0"/>
                <a:cs typeface="Times New Roman" panose="02020603050405020304" pitchFamily="18" charset="0"/>
              </a:rPr>
              <a:t> – Windows, Linux, or macOS. </a:t>
            </a: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altLang="en-US" sz="1400" b="1" dirty="0">
                <a:latin typeface="Times New Roman" panose="02020603050405020304" pitchFamily="18" charset="0"/>
                <a:cs typeface="Times New Roman" panose="02020603050405020304" pitchFamily="18" charset="0"/>
              </a:rPr>
              <a:t>Python Interpreter</a:t>
            </a:r>
            <a:r>
              <a:rPr lang="en-US" altLang="en-US" sz="1400" dirty="0">
                <a:latin typeface="Times New Roman" panose="02020603050405020304" pitchFamily="18" charset="0"/>
                <a:cs typeface="Times New Roman" panose="02020603050405020304" pitchFamily="18" charset="0"/>
              </a:rPr>
              <a:t> – Required to execute Python programs. </a:t>
            </a: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altLang="en-US" sz="1400" b="1" dirty="0">
                <a:latin typeface="Times New Roman" panose="02020603050405020304" pitchFamily="18" charset="0"/>
                <a:cs typeface="Times New Roman" panose="02020603050405020304" pitchFamily="18" charset="0"/>
              </a:rPr>
              <a:t>Database Management System</a:t>
            </a:r>
            <a:r>
              <a:rPr lang="en-US" altLang="en-US" sz="1400" dirty="0">
                <a:latin typeface="Times New Roman" panose="02020603050405020304" pitchFamily="18" charset="0"/>
                <a:cs typeface="Times New Roman" panose="02020603050405020304" pitchFamily="18" charset="0"/>
              </a:rPr>
              <a:t> – MySQL for data storage. </a:t>
            </a: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altLang="en-US" sz="1400" b="1" dirty="0">
                <a:latin typeface="Times New Roman" panose="02020603050405020304" pitchFamily="18" charset="0"/>
                <a:cs typeface="Times New Roman" panose="02020603050405020304" pitchFamily="18" charset="0"/>
              </a:rPr>
              <a:t>IDE</a:t>
            </a:r>
            <a:r>
              <a:rPr lang="en-US" altLang="en-US" sz="1400" dirty="0">
                <a:latin typeface="Times New Roman" panose="02020603050405020304" pitchFamily="18" charset="0"/>
                <a:cs typeface="Times New Roman" panose="02020603050405020304" pitchFamily="18" charset="0"/>
              </a:rPr>
              <a:t> – VS Code for development. </a:t>
            </a: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altLang="en-US" sz="1400" b="1" dirty="0">
                <a:latin typeface="Times New Roman" panose="02020603050405020304" pitchFamily="18" charset="0"/>
                <a:cs typeface="Times New Roman" panose="02020603050405020304" pitchFamily="18" charset="0"/>
              </a:rPr>
              <a:t>Web Browser</a:t>
            </a:r>
            <a:r>
              <a:rPr lang="en-US" altLang="en-US" sz="1400" dirty="0">
                <a:latin typeface="Times New Roman" panose="02020603050405020304" pitchFamily="18" charset="0"/>
                <a:cs typeface="Times New Roman" panose="02020603050405020304" pitchFamily="18" charset="0"/>
              </a:rPr>
              <a:t> – Google Chrome for accessing the voting system. </a:t>
            </a:r>
          </a:p>
          <a:p>
            <a:pPr marL="285750" lvl="0" indent="-285750" eaLnBrk="0" fontAlgn="base" hangingPunct="0">
              <a:lnSpc>
                <a:spcPct val="150000"/>
              </a:lnSpc>
              <a:spcBef>
                <a:spcPct val="0"/>
              </a:spcBef>
              <a:spcAft>
                <a:spcPct val="0"/>
              </a:spcAft>
              <a:buFont typeface="Wingdings" panose="05000000000000000000" pitchFamily="2" charset="2"/>
              <a:buChar char="Ø"/>
            </a:pPr>
            <a:r>
              <a:rPr lang="en-US" altLang="en-US" sz="1400" b="1" dirty="0">
                <a:latin typeface="Times New Roman" panose="02020603050405020304" pitchFamily="18" charset="0"/>
                <a:cs typeface="Times New Roman" panose="02020603050405020304" pitchFamily="18" charset="0"/>
              </a:rPr>
              <a:t>Python Libraries</a:t>
            </a:r>
            <a:r>
              <a:rPr lang="en-US" altLang="en-US" sz="1400" dirty="0">
                <a:latin typeface="Times New Roman" panose="02020603050405020304" pitchFamily="18" charset="0"/>
                <a:cs typeface="Times New Roman" panose="02020603050405020304" pitchFamily="18" charset="0"/>
              </a:rPr>
              <a:t> – Libraries such as Tkinter, Flask, and SQLite connector for application development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663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Algerian" panose="04020705040A02060702" pitchFamily="82" charset="0"/>
              </a:rPr>
              <a:t>User Registration and Authentication Module</a:t>
            </a:r>
            <a:endParaRPr lang="en-IN" sz="3600" b="1" dirty="0">
              <a:latin typeface="Algerian" panose="04020705040A02060702" pitchFamily="82" charset="0"/>
            </a:endParaRP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5163"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a:extLst>
              <a:ext uri="{FF2B5EF4-FFF2-40B4-BE49-F238E27FC236}">
                <a16:creationId xmlns:a16="http://schemas.microsoft.com/office/drawing/2014/main" id="{F8172212-CD3D-5456-4241-2FCFE93064EF}"/>
              </a:ext>
            </a:extLst>
          </p:cNvPr>
          <p:cNvSpPr>
            <a:spLocks noGrp="1" noChangeArrowheads="1"/>
          </p:cNvSpPr>
          <p:nvPr>
            <p:ph idx="1"/>
          </p:nvPr>
        </p:nvSpPr>
        <p:spPr bwMode="auto">
          <a:xfrm>
            <a:off x="838200" y="2985634"/>
            <a:ext cx="91744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4084F4A-E2F9-B43F-367C-08B23D728F0B}"/>
              </a:ext>
            </a:extLst>
          </p:cNvPr>
          <p:cNvSpPr txBox="1"/>
          <p:nvPr/>
        </p:nvSpPr>
        <p:spPr>
          <a:xfrm>
            <a:off x="396240" y="1473991"/>
            <a:ext cx="3505200" cy="5576014"/>
          </a:xfrm>
          <a:prstGeom prst="rect">
            <a:avLst/>
          </a:prstGeom>
          <a:noFill/>
        </p:spPr>
        <p:txBody>
          <a:bodyPr wrap="square" rtlCol="0">
            <a:spAutoFit/>
          </a:bodyPr>
          <a:lstStyle/>
          <a:p>
            <a:pPr marL="285750" lvl="0" indent="-28575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Registration:</a:t>
            </a:r>
            <a:r>
              <a:rPr lang="en-US" altLang="en-US" sz="1200" dirty="0">
                <a:latin typeface="Times New Roman" panose="02020603050405020304" pitchFamily="18" charset="0"/>
                <a:cs typeface="Times New Roman" panose="02020603050405020304" pitchFamily="18" charset="0"/>
              </a:rPr>
              <a:t> Users provide a username, password, and email, which are validated via Python for accuracy.</a:t>
            </a:r>
          </a:p>
          <a:p>
            <a:pPr marL="285750" lvl="0" indent="-28575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Secure Storage:</a:t>
            </a:r>
            <a:r>
              <a:rPr lang="en-US" altLang="en-US" sz="1200" dirty="0">
                <a:latin typeface="Times New Roman" panose="02020603050405020304" pitchFamily="18" charset="0"/>
                <a:cs typeface="Times New Roman" panose="02020603050405020304" pitchFamily="18" charset="0"/>
              </a:rPr>
              <a:t> Credentials are protected using </a:t>
            </a:r>
            <a:r>
              <a:rPr lang="en-US" altLang="en-US" sz="1200" b="1" dirty="0">
                <a:latin typeface="Times New Roman" panose="02020603050405020304" pitchFamily="18" charset="0"/>
                <a:cs typeface="Times New Roman" panose="02020603050405020304" pitchFamily="18" charset="0"/>
              </a:rPr>
              <a:t>password hashing</a:t>
            </a:r>
            <a:r>
              <a:rPr lang="en-US" altLang="en-US" sz="1200" dirty="0">
                <a:latin typeface="Times New Roman" panose="02020603050405020304" pitchFamily="18" charset="0"/>
                <a:cs typeface="Times New Roman" panose="02020603050405020304" pitchFamily="18" charset="0"/>
              </a:rPr>
              <a:t> and stored securely in a database or file.</a:t>
            </a:r>
          </a:p>
          <a:p>
            <a:pPr marL="285750" lvl="0" indent="-28575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Authentication:</a:t>
            </a:r>
            <a:r>
              <a:rPr lang="en-US" altLang="en-US" sz="1200" dirty="0">
                <a:latin typeface="Times New Roman" panose="02020603050405020304" pitchFamily="18" charset="0"/>
                <a:cs typeface="Times New Roman" panose="02020603050405020304" pitchFamily="18" charset="0"/>
              </a:rPr>
              <a:t> The system verifies login attempts by comparing entered details against stored encrypted data.</a:t>
            </a:r>
          </a:p>
          <a:p>
            <a:pPr marL="285750" lvl="0" indent="-28575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Access Control:</a:t>
            </a:r>
            <a:r>
              <a:rPr lang="en-US" altLang="en-US" sz="1200" dirty="0">
                <a:latin typeface="Times New Roman" panose="02020603050405020304" pitchFamily="18" charset="0"/>
                <a:cs typeface="Times New Roman" panose="02020603050405020304" pitchFamily="18" charset="0"/>
              </a:rPr>
              <a:t> Users are granted access upon a match; otherwise, the system denies entry and displays an error.</a:t>
            </a:r>
          </a:p>
          <a:p>
            <a:pPr marL="285750" lvl="0" indent="-28575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System Integrity:</a:t>
            </a:r>
            <a:r>
              <a:rPr lang="en-US" altLang="en-US" sz="1200" dirty="0">
                <a:latin typeface="Times New Roman" panose="02020603050405020304" pitchFamily="18" charset="0"/>
                <a:cs typeface="Times New Roman" panose="02020603050405020304" pitchFamily="18" charset="0"/>
              </a:rPr>
              <a:t> This workflow acts as a critical security layer for safe user management.</a:t>
            </a:r>
          </a:p>
          <a:p>
            <a:pPr marL="285750" indent="-285750" algn="just">
              <a:lnSpc>
                <a:spcPct val="200000"/>
              </a:lnSpc>
              <a:buFont typeface="Wingdings" panose="05000000000000000000" pitchFamily="2" charset="2"/>
              <a:buChar char="Ø"/>
            </a:pPr>
            <a:endParaRPr lang="en-IN" sz="1200" dirty="0">
              <a:latin typeface="Times New Roman" panose="02020603050405020304" pitchFamily="18" charset="0"/>
              <a:ea typeface="STXinwei" panose="0201080004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E51D2D26-3BCA-B00E-1881-06DABA234939}"/>
              </a:ext>
            </a:extLst>
          </p:cNvPr>
          <p:cNvPicPr>
            <a:picLocks noChangeAspect="1"/>
          </p:cNvPicPr>
          <p:nvPr/>
        </p:nvPicPr>
        <p:blipFill>
          <a:blip r:embed="rId4"/>
          <a:stretch>
            <a:fillRect/>
          </a:stretch>
        </p:blipFill>
        <p:spPr>
          <a:xfrm>
            <a:off x="4089133" y="1505616"/>
            <a:ext cx="2651990" cy="5174428"/>
          </a:xfrm>
          <a:prstGeom prst="rect">
            <a:avLst/>
          </a:prstGeom>
        </p:spPr>
      </p:pic>
      <p:pic>
        <p:nvPicPr>
          <p:cNvPr id="6" name="Picture 5">
            <a:extLst>
              <a:ext uri="{FF2B5EF4-FFF2-40B4-BE49-F238E27FC236}">
                <a16:creationId xmlns:a16="http://schemas.microsoft.com/office/drawing/2014/main" id="{EEA235A4-BEC6-86C5-B762-E8B336BE0144}"/>
              </a:ext>
            </a:extLst>
          </p:cNvPr>
          <p:cNvPicPr>
            <a:picLocks noChangeAspect="1"/>
          </p:cNvPicPr>
          <p:nvPr/>
        </p:nvPicPr>
        <p:blipFill>
          <a:blip r:embed="rId5"/>
          <a:stretch>
            <a:fillRect/>
          </a:stretch>
        </p:blipFill>
        <p:spPr>
          <a:xfrm>
            <a:off x="6611732" y="1505616"/>
            <a:ext cx="2644369" cy="5174428"/>
          </a:xfrm>
          <a:prstGeom prst="rect">
            <a:avLst/>
          </a:prstGeom>
        </p:spPr>
      </p:pic>
      <p:pic>
        <p:nvPicPr>
          <p:cNvPr id="9" name="Picture 8">
            <a:extLst>
              <a:ext uri="{FF2B5EF4-FFF2-40B4-BE49-F238E27FC236}">
                <a16:creationId xmlns:a16="http://schemas.microsoft.com/office/drawing/2014/main" id="{47C8107D-07A6-75B7-3003-C50A6692FF69}"/>
              </a:ext>
            </a:extLst>
          </p:cNvPr>
          <p:cNvPicPr>
            <a:picLocks noChangeAspect="1"/>
          </p:cNvPicPr>
          <p:nvPr/>
        </p:nvPicPr>
        <p:blipFill>
          <a:blip r:embed="rId6"/>
          <a:stretch>
            <a:fillRect/>
          </a:stretch>
        </p:blipFill>
        <p:spPr>
          <a:xfrm>
            <a:off x="9235399" y="1505616"/>
            <a:ext cx="2659610" cy="5174427"/>
          </a:xfrm>
          <a:prstGeom prst="rect">
            <a:avLst/>
          </a:prstGeom>
        </p:spPr>
      </p:pic>
    </p:spTree>
    <p:extLst>
      <p:ext uri="{BB962C8B-B14F-4D97-AF65-F5344CB8AC3E}">
        <p14:creationId xmlns:p14="http://schemas.microsoft.com/office/powerpoint/2010/main" val="1486472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6D7758-4281-C78B-FF2F-9A61FFEA60E0}"/>
              </a:ext>
            </a:extLst>
          </p:cNvPr>
          <p:cNvPicPr>
            <a:picLocks noChangeAspect="1"/>
          </p:cNvPicPr>
          <p:nvPr/>
        </p:nvPicPr>
        <p:blipFill>
          <a:blip r:embed="rId2"/>
          <a:stretch>
            <a:fillRect/>
          </a:stretch>
        </p:blipFill>
        <p:spPr>
          <a:xfrm>
            <a:off x="0" y="1"/>
            <a:ext cx="6096000" cy="6858000"/>
          </a:xfrm>
          <a:prstGeom prst="rect">
            <a:avLst/>
          </a:prstGeom>
        </p:spPr>
      </p:pic>
      <p:pic>
        <p:nvPicPr>
          <p:cNvPr id="6" name="Picture 5">
            <a:extLst>
              <a:ext uri="{FF2B5EF4-FFF2-40B4-BE49-F238E27FC236}">
                <a16:creationId xmlns:a16="http://schemas.microsoft.com/office/drawing/2014/main" id="{A459C6B0-53F1-6980-93F7-95C280402EC9}"/>
              </a:ext>
            </a:extLst>
          </p:cNvPr>
          <p:cNvPicPr>
            <a:picLocks noChangeAspect="1"/>
          </p:cNvPicPr>
          <p:nvPr/>
        </p:nvPicPr>
        <p:blipFill>
          <a:blip r:embed="rId3"/>
          <a:stretch>
            <a:fillRect/>
          </a:stretch>
        </p:blipFill>
        <p:spPr>
          <a:xfrm>
            <a:off x="6096000" y="0"/>
            <a:ext cx="6096000" cy="3489820"/>
          </a:xfrm>
          <a:prstGeom prst="rect">
            <a:avLst/>
          </a:prstGeom>
        </p:spPr>
      </p:pic>
      <p:pic>
        <p:nvPicPr>
          <p:cNvPr id="8" name="Picture 7">
            <a:extLst>
              <a:ext uri="{FF2B5EF4-FFF2-40B4-BE49-F238E27FC236}">
                <a16:creationId xmlns:a16="http://schemas.microsoft.com/office/drawing/2014/main" id="{B2AEA3CB-8803-9166-6C0C-A7693B1388C4}"/>
              </a:ext>
            </a:extLst>
          </p:cNvPr>
          <p:cNvPicPr>
            <a:picLocks noChangeAspect="1"/>
          </p:cNvPicPr>
          <p:nvPr/>
        </p:nvPicPr>
        <p:blipFill>
          <a:blip r:embed="rId4"/>
          <a:stretch>
            <a:fillRect/>
          </a:stretch>
        </p:blipFill>
        <p:spPr>
          <a:xfrm>
            <a:off x="6095999" y="3489819"/>
            <a:ext cx="6096000" cy="3368179"/>
          </a:xfrm>
          <a:prstGeom prst="rect">
            <a:avLst/>
          </a:prstGeom>
        </p:spPr>
      </p:pic>
    </p:spTree>
    <p:extLst>
      <p:ext uri="{BB962C8B-B14F-4D97-AF65-F5344CB8AC3E}">
        <p14:creationId xmlns:p14="http://schemas.microsoft.com/office/powerpoint/2010/main" val="348434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Algerian" panose="04020705040A02060702" pitchFamily="82" charset="0"/>
              </a:rPr>
              <a:t>Voting Management Module</a:t>
            </a: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7ADBFAF6-9364-7940-58F1-82BC942D661D}"/>
              </a:ext>
            </a:extLst>
          </p:cNvPr>
          <p:cNvSpPr>
            <a:spLocks noGrp="1" noChangeArrowheads="1"/>
          </p:cNvSpPr>
          <p:nvPr>
            <p:ph idx="1"/>
          </p:nvPr>
        </p:nvSpPr>
        <p:spPr bwMode="auto">
          <a:xfrm>
            <a:off x="424184" y="2223523"/>
            <a:ext cx="4897754" cy="372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Voter Access:</a:t>
            </a:r>
            <a:r>
              <a:rPr lang="en-US" altLang="en-US" sz="1200" dirty="0">
                <a:latin typeface="Times New Roman" panose="02020603050405020304" pitchFamily="18" charset="0"/>
                <a:cs typeface="Times New Roman" panose="02020603050405020304" pitchFamily="18" charset="0"/>
              </a:rPr>
              <a:t> Authenticated users can view the list of election candidates.</a:t>
            </a:r>
          </a:p>
          <a:p>
            <a:pPr lvl="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Eligibility Check:</a:t>
            </a:r>
            <a:r>
              <a:rPr lang="en-US" altLang="en-US" sz="1200" dirty="0">
                <a:latin typeface="Times New Roman" panose="02020603050405020304" pitchFamily="18" charset="0"/>
                <a:cs typeface="Times New Roman" panose="02020603050405020304" pitchFamily="18" charset="0"/>
              </a:rPr>
              <a:t> The system verifies voter eligibility before accepting any submission.</a:t>
            </a:r>
          </a:p>
          <a:p>
            <a:pPr lvl="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Single-Vote Rule:</a:t>
            </a:r>
            <a:r>
              <a:rPr lang="en-US" altLang="en-US" sz="1200" dirty="0">
                <a:latin typeface="Times New Roman" panose="02020603050405020304" pitchFamily="18" charset="0"/>
                <a:cs typeface="Times New Roman" panose="02020603050405020304" pitchFamily="18" charset="0"/>
              </a:rPr>
              <a:t> Each voter is limited to one cast to prevent duplicate attempts.</a:t>
            </a:r>
          </a:p>
          <a:p>
            <a:pPr lvl="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Secure Storage:</a:t>
            </a:r>
            <a:r>
              <a:rPr lang="en-US" altLang="en-US" sz="1200" dirty="0">
                <a:latin typeface="Times New Roman" panose="02020603050405020304" pitchFamily="18" charset="0"/>
                <a:cs typeface="Times New Roman" panose="02020603050405020304" pitchFamily="18" charset="0"/>
              </a:rPr>
              <a:t> Votes are recorded in a secure database to ensure confidentiality and data integrity.</a:t>
            </a:r>
          </a:p>
          <a:p>
            <a:pPr lvl="0" algn="just" eaLnBrk="0" fontAlgn="base" hangingPunct="0">
              <a:lnSpc>
                <a:spcPct val="200000"/>
              </a:lnSpc>
              <a:spcBef>
                <a:spcPct val="0"/>
              </a:spcBef>
              <a:spcAft>
                <a:spcPct val="0"/>
              </a:spcAft>
              <a:buFont typeface="Wingdings" panose="05000000000000000000" pitchFamily="2" charset="2"/>
              <a:buChar char="Ø"/>
            </a:pPr>
            <a:r>
              <a:rPr lang="en-US" altLang="en-US" sz="1200" b="1" dirty="0">
                <a:latin typeface="Times New Roman" panose="02020603050405020304" pitchFamily="18" charset="0"/>
                <a:cs typeface="Times New Roman" panose="02020603050405020304" pitchFamily="18" charset="0"/>
              </a:rPr>
              <a:t>Core Purpose:</a:t>
            </a:r>
            <a:r>
              <a:rPr lang="en-US" altLang="en-US" sz="1200" dirty="0">
                <a:latin typeface="Times New Roman" panose="02020603050405020304" pitchFamily="18" charset="0"/>
                <a:cs typeface="Times New Roman" panose="02020603050405020304" pitchFamily="18" charset="0"/>
              </a:rPr>
              <a:t> Provides a structured and secure framework for the entire voting process.</a:t>
            </a:r>
          </a:p>
        </p:txBody>
      </p:sp>
      <p:pic>
        <p:nvPicPr>
          <p:cNvPr id="13" name="Picture 12">
            <a:extLst>
              <a:ext uri="{FF2B5EF4-FFF2-40B4-BE49-F238E27FC236}">
                <a16:creationId xmlns:a16="http://schemas.microsoft.com/office/drawing/2014/main" id="{BE08A59E-5E29-C0BD-AD94-DC618256F607}"/>
              </a:ext>
            </a:extLst>
          </p:cNvPr>
          <p:cNvPicPr>
            <a:picLocks noChangeAspect="1"/>
          </p:cNvPicPr>
          <p:nvPr/>
        </p:nvPicPr>
        <p:blipFill>
          <a:blip r:embed="rId4"/>
          <a:stretch>
            <a:fillRect/>
          </a:stretch>
        </p:blipFill>
        <p:spPr>
          <a:xfrm>
            <a:off x="5715040" y="1654213"/>
            <a:ext cx="2816564" cy="4831499"/>
          </a:xfrm>
          <a:prstGeom prst="rect">
            <a:avLst/>
          </a:prstGeom>
        </p:spPr>
      </p:pic>
      <p:pic>
        <p:nvPicPr>
          <p:cNvPr id="15" name="Picture 14">
            <a:extLst>
              <a:ext uri="{FF2B5EF4-FFF2-40B4-BE49-F238E27FC236}">
                <a16:creationId xmlns:a16="http://schemas.microsoft.com/office/drawing/2014/main" id="{24D7D94B-9C5E-F932-1026-1D811DCABF36}"/>
              </a:ext>
            </a:extLst>
          </p:cNvPr>
          <p:cNvPicPr>
            <a:picLocks noChangeAspect="1"/>
          </p:cNvPicPr>
          <p:nvPr/>
        </p:nvPicPr>
        <p:blipFill>
          <a:blip r:embed="rId5"/>
          <a:stretch>
            <a:fillRect/>
          </a:stretch>
        </p:blipFill>
        <p:spPr>
          <a:xfrm>
            <a:off x="8397241" y="1654213"/>
            <a:ext cx="2956560" cy="4831499"/>
          </a:xfrm>
          <a:prstGeom prst="rect">
            <a:avLst/>
          </a:prstGeom>
        </p:spPr>
      </p:pic>
    </p:spTree>
    <p:extLst>
      <p:ext uri="{BB962C8B-B14F-4D97-AF65-F5344CB8AC3E}">
        <p14:creationId xmlns:p14="http://schemas.microsoft.com/office/powerpoint/2010/main" val="4025516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46F1D3-273E-5BD3-0A9D-6C42B8B63568}"/>
              </a:ext>
            </a:extLst>
          </p:cNvPr>
          <p:cNvPicPr>
            <a:picLocks noChangeAspect="1"/>
          </p:cNvPicPr>
          <p:nvPr/>
        </p:nvPicPr>
        <p:blipFill>
          <a:blip r:embed="rId2"/>
          <a:stretch>
            <a:fillRect/>
          </a:stretch>
        </p:blipFill>
        <p:spPr>
          <a:xfrm>
            <a:off x="0" y="0"/>
            <a:ext cx="6096001" cy="6857999"/>
          </a:xfrm>
          <a:prstGeom prst="rect">
            <a:avLst/>
          </a:prstGeom>
        </p:spPr>
      </p:pic>
      <p:pic>
        <p:nvPicPr>
          <p:cNvPr id="6" name="Picture 5">
            <a:extLst>
              <a:ext uri="{FF2B5EF4-FFF2-40B4-BE49-F238E27FC236}">
                <a16:creationId xmlns:a16="http://schemas.microsoft.com/office/drawing/2014/main" id="{7FB3B652-A74D-E56E-63F5-53921CECA634}"/>
              </a:ext>
            </a:extLst>
          </p:cNvPr>
          <p:cNvPicPr>
            <a:picLocks noChangeAspect="1"/>
          </p:cNvPicPr>
          <p:nvPr/>
        </p:nvPicPr>
        <p:blipFill>
          <a:blip r:embed="rId3"/>
          <a:stretch>
            <a:fillRect/>
          </a:stretch>
        </p:blipFill>
        <p:spPr>
          <a:xfrm>
            <a:off x="6095999" y="1"/>
            <a:ext cx="6096001" cy="6857998"/>
          </a:xfrm>
          <a:prstGeom prst="rect">
            <a:avLst/>
          </a:prstGeom>
        </p:spPr>
      </p:pic>
    </p:spTree>
    <p:extLst>
      <p:ext uri="{BB962C8B-B14F-4D97-AF65-F5344CB8AC3E}">
        <p14:creationId xmlns:p14="http://schemas.microsoft.com/office/powerpoint/2010/main" val="2801381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91A56E-1C8F-435C-71E4-BCF0DD6B90D1}"/>
              </a:ext>
            </a:extLst>
          </p:cNvPr>
          <p:cNvPicPr>
            <a:picLocks noChangeAspect="1"/>
          </p:cNvPicPr>
          <p:nvPr/>
        </p:nvPicPr>
        <p:blipFill>
          <a:blip r:embed="rId2"/>
          <a:stretch>
            <a:fillRect/>
          </a:stretch>
        </p:blipFill>
        <p:spPr>
          <a:xfrm>
            <a:off x="0" y="1"/>
            <a:ext cx="6096000" cy="3429000"/>
          </a:xfrm>
          <a:prstGeom prst="rect">
            <a:avLst/>
          </a:prstGeom>
        </p:spPr>
      </p:pic>
      <p:pic>
        <p:nvPicPr>
          <p:cNvPr id="6" name="Picture 5">
            <a:extLst>
              <a:ext uri="{FF2B5EF4-FFF2-40B4-BE49-F238E27FC236}">
                <a16:creationId xmlns:a16="http://schemas.microsoft.com/office/drawing/2014/main" id="{BE9327EC-3FE6-2364-EB26-F89BF6F01033}"/>
              </a:ext>
            </a:extLst>
          </p:cNvPr>
          <p:cNvPicPr>
            <a:picLocks noChangeAspect="1"/>
          </p:cNvPicPr>
          <p:nvPr/>
        </p:nvPicPr>
        <p:blipFill>
          <a:blip r:embed="rId3"/>
          <a:stretch>
            <a:fillRect/>
          </a:stretch>
        </p:blipFill>
        <p:spPr>
          <a:xfrm>
            <a:off x="0" y="3428999"/>
            <a:ext cx="6096000" cy="3429001"/>
          </a:xfrm>
          <a:prstGeom prst="rect">
            <a:avLst/>
          </a:prstGeom>
        </p:spPr>
      </p:pic>
      <p:pic>
        <p:nvPicPr>
          <p:cNvPr id="8" name="Picture 7">
            <a:extLst>
              <a:ext uri="{FF2B5EF4-FFF2-40B4-BE49-F238E27FC236}">
                <a16:creationId xmlns:a16="http://schemas.microsoft.com/office/drawing/2014/main" id="{4112F393-754A-C551-1321-16DA4253B0AB}"/>
              </a:ext>
            </a:extLst>
          </p:cNvPr>
          <p:cNvPicPr>
            <a:picLocks noChangeAspect="1"/>
          </p:cNvPicPr>
          <p:nvPr/>
        </p:nvPicPr>
        <p:blipFill>
          <a:blip r:embed="rId4"/>
          <a:stretch>
            <a:fillRect/>
          </a:stretch>
        </p:blipFill>
        <p:spPr>
          <a:xfrm>
            <a:off x="6096000" y="0"/>
            <a:ext cx="6096000" cy="3428999"/>
          </a:xfrm>
          <a:prstGeom prst="rect">
            <a:avLst/>
          </a:prstGeom>
        </p:spPr>
      </p:pic>
      <p:pic>
        <p:nvPicPr>
          <p:cNvPr id="12" name="Picture 11">
            <a:extLst>
              <a:ext uri="{FF2B5EF4-FFF2-40B4-BE49-F238E27FC236}">
                <a16:creationId xmlns:a16="http://schemas.microsoft.com/office/drawing/2014/main" id="{F80D08CA-1776-90D7-1FD8-28B2428E3EB2}"/>
              </a:ext>
            </a:extLst>
          </p:cNvPr>
          <p:cNvPicPr>
            <a:picLocks noChangeAspect="1"/>
          </p:cNvPicPr>
          <p:nvPr/>
        </p:nvPicPr>
        <p:blipFill>
          <a:blip r:embed="rId5"/>
          <a:stretch>
            <a:fillRect/>
          </a:stretch>
        </p:blipFill>
        <p:spPr>
          <a:xfrm>
            <a:off x="6096000" y="3428998"/>
            <a:ext cx="6096000" cy="3429001"/>
          </a:xfrm>
          <a:prstGeom prst="rect">
            <a:avLst/>
          </a:prstGeom>
        </p:spPr>
      </p:pic>
    </p:spTree>
    <p:extLst>
      <p:ext uri="{BB962C8B-B14F-4D97-AF65-F5344CB8AC3E}">
        <p14:creationId xmlns:p14="http://schemas.microsoft.com/office/powerpoint/2010/main" val="2699857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lgerian" panose="04020705040A02060702" pitchFamily="82" charset="0"/>
              </a:rPr>
              <a:t>Results and Discussion</a:t>
            </a:r>
            <a:endParaRPr lang="en-IN" b="1" dirty="0">
              <a:latin typeface="Algerian" panose="04020705040A02060702" pitchFamily="82" charset="0"/>
            </a:endParaRPr>
          </a:p>
        </p:txBody>
      </p:sp>
      <p:sp>
        <p:nvSpPr>
          <p:cNvPr id="3" name="Content Placeholder 2"/>
          <p:cNvSpPr>
            <a:spLocks noGrp="1"/>
          </p:cNvSpPr>
          <p:nvPr>
            <p:ph idx="1"/>
          </p:nvPr>
        </p:nvSpPr>
        <p:spPr>
          <a:xfrm>
            <a:off x="838200" y="1825625"/>
            <a:ext cx="6057550" cy="4776511"/>
          </a:xfrm>
        </p:spPr>
        <p:txBody>
          <a:bodyPr>
            <a:norm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Secure Online Voting and Election Management System successfully demonstrates a reliable and efficient platform for conducting digital elections.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effectively prevents duplicate voting and unauthorized access, maintaining the integrity of the election process.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results show accurate vote counting and real-time result generation, improving transparency and reducing manual effort.</a:t>
            </a:r>
          </a:p>
          <a:p>
            <a:pPr marL="0" indent="0" algn="just">
              <a:lnSpc>
                <a:spcPct val="150000"/>
              </a:lnSpc>
              <a:buNone/>
            </a:pPr>
            <a:endParaRPr lang="en-IN" sz="1800" dirty="0"/>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2582F16-BFFC-F019-376D-345122299EE9}"/>
              </a:ext>
            </a:extLst>
          </p:cNvPr>
          <p:cNvPicPr>
            <a:picLocks noChangeAspect="1"/>
          </p:cNvPicPr>
          <p:nvPr/>
        </p:nvPicPr>
        <p:blipFill>
          <a:blip r:embed="rId4"/>
          <a:stretch>
            <a:fillRect/>
          </a:stretch>
        </p:blipFill>
        <p:spPr>
          <a:xfrm>
            <a:off x="7291960" y="2403753"/>
            <a:ext cx="4624167" cy="3518516"/>
          </a:xfrm>
          <a:prstGeom prst="rect">
            <a:avLst/>
          </a:prstGeom>
        </p:spPr>
      </p:pic>
    </p:spTree>
    <p:extLst>
      <p:ext uri="{BB962C8B-B14F-4D97-AF65-F5344CB8AC3E}">
        <p14:creationId xmlns:p14="http://schemas.microsoft.com/office/powerpoint/2010/main" val="166453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lgerian" panose="04020705040A02060702" pitchFamily="82" charset="0"/>
              </a:rPr>
              <a:t>Reflection on Learning and Personal Development </a:t>
            </a:r>
            <a:endParaRPr lang="en-IN" dirty="0">
              <a:latin typeface="Algerian" panose="04020705040A02060702" pitchFamily="82" charset="0"/>
            </a:endParaRP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96B12DB5-D263-26F0-32E8-6D6BB8A5535D}"/>
              </a:ext>
            </a:extLst>
          </p:cNvPr>
          <p:cNvSpPr>
            <a:spLocks noGrp="1" noChangeArrowheads="1"/>
          </p:cNvSpPr>
          <p:nvPr>
            <p:ph idx="1"/>
          </p:nvPr>
        </p:nvSpPr>
        <p:spPr bwMode="auto">
          <a:xfrm>
            <a:off x="2006169" y="2626018"/>
            <a:ext cx="8179661" cy="2777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Gained practical knowledge of secure system design using Python </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user authentication and data encryption techniques </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programming and problem-solving skills through real implementation </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prevention of issues like unauthorized access and duplicate voting </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Strengthened overall knowledge of cybersecurity and system development concepts </a:t>
            </a:r>
          </a:p>
        </p:txBody>
      </p:sp>
    </p:spTree>
    <p:extLst>
      <p:ext uri="{BB962C8B-B14F-4D97-AF65-F5344CB8AC3E}">
        <p14:creationId xmlns:p14="http://schemas.microsoft.com/office/powerpoint/2010/main" val="2293607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Algerian" panose="04020705040A02060702" pitchFamily="82" charset="0"/>
              </a:rPr>
              <a:t>Conclusion </a:t>
            </a:r>
            <a:endParaRPr lang="en-IN" dirty="0">
              <a:latin typeface="Algerian" panose="04020705040A02060702" pitchFamily="82" charset="0"/>
            </a:endParaRPr>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Secure Online Voting and Election Management System provides a reliable, efficient, and secure approach to conducting digital elections using Python.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system successfully integrates key functionalities such as user registration, authentication, vote casting, and result management while ensuring data security through encryption and validation techniques.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effectively prevents unauthorized access and duplicate voting, thereby maintaining the integrity and transparency of the election process.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Overall, the project demonstrates how technology can enhance the traditional voting system by making it more accurate, faster, and trustworthy, while ensuring fairness and security in the entire election process.</a:t>
            </a:r>
            <a:endParaRPr lang="en-IN" sz="1800" dirty="0">
              <a:latin typeface="Times New Roman" panose="02020603050405020304" pitchFamily="18" charset="0"/>
              <a:cs typeface="Times New Roman" panose="02020603050405020304" pitchFamily="18" charset="0"/>
            </a:endParaRP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315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Algerian" panose="04020705040A02060702" pitchFamily="82" charset="0"/>
              </a:rPr>
              <a:t>References</a:t>
            </a:r>
            <a:r>
              <a:rPr lang="en-IN" b="1" dirty="0">
                <a:latin typeface="Bodoni MT Black" panose="02070A03080606020203" pitchFamily="18" charset="0"/>
              </a:rPr>
              <a:t> </a:t>
            </a:r>
          </a:p>
        </p:txBody>
      </p:sp>
      <p:pic>
        <p:nvPicPr>
          <p:cNvPr id="4" name="Picture 2"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9290" y="109322"/>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School of Engineering: Courses, Admission 2025, Fees, Scholarship,  Placements, Rank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37" y="35193"/>
            <a:ext cx="1011121" cy="13309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B5047012-61A4-9B17-41D8-A6EA10F24797}"/>
              </a:ext>
            </a:extLst>
          </p:cNvPr>
          <p:cNvSpPr>
            <a:spLocks noGrp="1" noChangeArrowheads="1"/>
          </p:cNvSpPr>
          <p:nvPr>
            <p:ph idx="1"/>
          </p:nvPr>
        </p:nvSpPr>
        <p:spPr bwMode="auto">
          <a:xfrm>
            <a:off x="444511" y="1941846"/>
            <a:ext cx="11747489" cy="4110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Wang, X., Feng, T., Liu, C., &amp; Fang, J. (2024). Multi party confidential verifiable electronic voting scheme based on blockchain. Journal of Cloud Computing, 13(160). Springer Nature.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Singh, I., Kaur, A., Agarwal, P., &amp; Idrees, S. M. (2024). Enhancing Security and Transparency in Online Voting through Blockchain Decentralization. SN Computer Science, 5(921). Springer Nature.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Wang, B., Guo, F., Liu, Y., &amp; Yuan, Y. (2024). An efficient and versatile e-voting scheme on blockchain. Cybersecurity, 7(62). Springer Nature.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Rahman, K. N., Hridoy, M. W., Rahman, M. M., Islam, M. R., &amp; Banik, S. (2024). Highly secured and effective management of app-based online voting system using RSA encryption and decryption. </a:t>
            </a:r>
            <a:r>
              <a:rPr kumimoji="0" lang="en-US" altLang="en-US" sz="16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Heliyon</a:t>
            </a: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10(3), e25373.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Joni, S. A., Rahat, R., </a:t>
            </a:r>
            <a:r>
              <a:rPr kumimoji="0" lang="en-US" altLang="en-US" sz="16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Tasnin</a:t>
            </a: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Ghose, P., Uddin, M. A., &amp; Ayoade, J. (2024). Hybrid-Blockchain-Based Electronic Voting Machine System Embedded with </a:t>
            </a:r>
            <a:r>
              <a:rPr kumimoji="0" lang="en-US" altLang="en-US" sz="16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Deepface</a:t>
            </a:r>
            <a:r>
              <a:rPr kumimoji="0" lang="en-US" altLang="en-US" sz="16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Sharding, and Post-Quantum Techniques. Blockchains, 2(4), 366–423. </a:t>
            </a:r>
          </a:p>
        </p:txBody>
      </p:sp>
    </p:spTree>
    <p:extLst>
      <p:ext uri="{BB962C8B-B14F-4D97-AF65-F5344CB8AC3E}">
        <p14:creationId xmlns:p14="http://schemas.microsoft.com/office/powerpoint/2010/main" val="3680226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ank You Vectors - Download Free High-Quality Vectors from Freepik |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197" y="847226"/>
            <a:ext cx="7048500" cy="4991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932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1228</Words>
  <Application>Microsoft Office PowerPoint</Application>
  <PresentationFormat>Widescreen</PresentationFormat>
  <Paragraphs>99</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Algerian</vt:lpstr>
      <vt:lpstr>Arial</vt:lpstr>
      <vt:lpstr>Bodoni MT Black</vt:lpstr>
      <vt:lpstr>Calibri</vt:lpstr>
      <vt:lpstr>Calibri Light</vt:lpstr>
      <vt:lpstr>Times New Roman</vt:lpstr>
      <vt:lpstr>Wingdings</vt:lpstr>
      <vt:lpstr>Office Theme</vt:lpstr>
      <vt:lpstr>Secure Online Voting and Election Management System</vt:lpstr>
      <vt:lpstr>Abstract </vt:lpstr>
      <vt:lpstr>Introduction </vt:lpstr>
      <vt:lpstr>Problem Identification and Analysis </vt:lpstr>
      <vt:lpstr>Solution Design</vt:lpstr>
      <vt:lpstr>TOOLS AND TECHNOLOGIES USED</vt:lpstr>
      <vt:lpstr>User Registration and Authentication Module</vt:lpstr>
      <vt:lpstr>PowerPoint Presentation</vt:lpstr>
      <vt:lpstr>Voting Management Module</vt:lpstr>
      <vt:lpstr>PowerPoint Presentation</vt:lpstr>
      <vt:lpstr>PowerPoint Presentation</vt:lpstr>
      <vt:lpstr>Results and Discussion</vt:lpstr>
      <vt:lpstr>Reflection on Learning and Personal Development </vt:lpstr>
      <vt:lpstr>Conclusion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Microsoft account</dc:creator>
  <cp:lastModifiedBy>Revanth Reddy Bollavaram</cp:lastModifiedBy>
  <cp:revision>10</cp:revision>
  <dcterms:created xsi:type="dcterms:W3CDTF">2025-07-10T02:53:33Z</dcterms:created>
  <dcterms:modified xsi:type="dcterms:W3CDTF">2026-06-25T03:22:34Z</dcterms:modified>
</cp:coreProperties>
</file>